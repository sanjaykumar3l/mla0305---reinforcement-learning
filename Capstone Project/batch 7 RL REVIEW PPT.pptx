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8" r:id="rId5"/>
    <p:sldId id="258" r:id="rId6"/>
    <p:sldId id="259" r:id="rId7"/>
    <p:sldId id="269"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ED91FB-8431-49D5-9B04-ACB8C9F085CD}" v="7" dt="2026-07-27T04:53:39.5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sk870020@gmail.com" userId="2febd9b4c272fbde" providerId="LiveId" clId="{FCBD5DFC-3241-4113-B4A2-8A215F6BE078}"/>
    <pc:docChg chg="undo custSel modSld">
      <pc:chgData name="lsk870020@gmail.com" userId="2febd9b4c272fbde" providerId="LiveId" clId="{FCBD5DFC-3241-4113-B4A2-8A215F6BE078}" dt="2026-07-27T15:13:40.209" v="40" actId="1076"/>
      <pc:docMkLst>
        <pc:docMk/>
      </pc:docMkLst>
      <pc:sldChg chg="addSp delSp modSp mod">
        <pc:chgData name="lsk870020@gmail.com" userId="2febd9b4c272fbde" providerId="LiveId" clId="{FCBD5DFC-3241-4113-B4A2-8A215F6BE078}" dt="2026-07-27T15:13:40.209" v="40" actId="1076"/>
        <pc:sldMkLst>
          <pc:docMk/>
          <pc:sldMk cId="2235033679" sldId="256"/>
        </pc:sldMkLst>
        <pc:spChg chg="add del">
          <ac:chgData name="lsk870020@gmail.com" userId="2febd9b4c272fbde" providerId="LiveId" clId="{FCBD5DFC-3241-4113-B4A2-8A215F6BE078}" dt="2026-07-27T15:04:41.082" v="1" actId="22"/>
          <ac:spMkLst>
            <pc:docMk/>
            <pc:sldMk cId="2235033679" sldId="256"/>
            <ac:spMk id="4" creationId="{4E7B2F7B-D93E-2FC7-587A-7B138595B6B1}"/>
          </ac:spMkLst>
        </pc:spChg>
        <pc:picChg chg="add del mod">
          <ac:chgData name="lsk870020@gmail.com" userId="2febd9b4c272fbde" providerId="LiveId" clId="{FCBD5DFC-3241-4113-B4A2-8A215F6BE078}" dt="2026-07-27T15:05:11.540" v="12" actId="22"/>
          <ac:picMkLst>
            <pc:docMk/>
            <pc:sldMk cId="2235033679" sldId="256"/>
            <ac:picMk id="5" creationId="{F1B33F8F-7751-9C9B-B575-E15C3EDA144E}"/>
          </ac:picMkLst>
        </pc:picChg>
        <pc:picChg chg="add del mod">
          <ac:chgData name="lsk870020@gmail.com" userId="2febd9b4c272fbde" providerId="LiveId" clId="{FCBD5DFC-3241-4113-B4A2-8A215F6BE078}" dt="2026-07-27T15:09:43.623" v="25" actId="22"/>
          <ac:picMkLst>
            <pc:docMk/>
            <pc:sldMk cId="2235033679" sldId="256"/>
            <ac:picMk id="6" creationId="{76405369-EABC-898C-C33C-F257C5BDED3D}"/>
          </ac:picMkLst>
        </pc:picChg>
        <pc:picChg chg="add del mod">
          <ac:chgData name="lsk870020@gmail.com" userId="2febd9b4c272fbde" providerId="LiveId" clId="{FCBD5DFC-3241-4113-B4A2-8A215F6BE078}" dt="2026-07-27T15:13:12.499" v="32" actId="478"/>
          <ac:picMkLst>
            <pc:docMk/>
            <pc:sldMk cId="2235033679" sldId="256"/>
            <ac:picMk id="7" creationId="{C380DC9C-0D39-9744-58EB-55287933D293}"/>
          </ac:picMkLst>
        </pc:picChg>
        <pc:picChg chg="add mod">
          <ac:chgData name="lsk870020@gmail.com" userId="2febd9b4c272fbde" providerId="LiveId" clId="{FCBD5DFC-3241-4113-B4A2-8A215F6BE078}" dt="2026-07-27T15:13:40.209" v="40" actId="1076"/>
          <ac:picMkLst>
            <pc:docMk/>
            <pc:sldMk cId="2235033679" sldId="256"/>
            <ac:picMk id="8" creationId="{F77BB16E-42F0-C77B-A61F-FD0735A3C6E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27-07-2026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27-07-2026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pic>
        <p:nvPicPr>
          <p:cNvPr id="8" name="Picture 7">
            <a:extLst>
              <a:ext uri="{FF2B5EF4-FFF2-40B4-BE49-F238E27FC236}">
                <a16:creationId xmlns:a16="http://schemas.microsoft.com/office/drawing/2014/main" id="{25A5E781-C40A-306A-3D89-4E94A1ADFFF1}"/>
              </a:ext>
            </a:extLst>
          </p:cNvPr>
          <p:cNvPicPr>
            <a:picLocks noChangeAspect="1"/>
          </p:cNvPicPr>
          <p:nvPr userDrawn="1"/>
        </p:nvPicPr>
        <p:blipFill>
          <a:blip r:embed="rId13">
            <a:extLst>
              <a:ext uri="{BEBA8EAE-BF5A-486C-A8C5-ECC9F3942E4B}">
                <a14:imgProps xmlns:a14="http://schemas.microsoft.com/office/drawing/2010/main">
                  <a14:imgLayer r:embed="rId14">
                    <a14:imgEffect>
                      <a14:sharpenSoften amount="25000"/>
                    </a14:imgEffect>
                    <a14:imgEffect>
                      <a14:saturation sat="400000"/>
                    </a14:imgEffect>
                    <a14:imgEffect>
                      <a14:brightnessContrast contrast="-40000"/>
                    </a14:imgEffect>
                  </a14:imgLayer>
                </a14:imgProps>
              </a:ext>
            </a:extLst>
          </a:blip>
          <a:stretch>
            <a:fillRect/>
          </a:stretch>
        </p:blipFill>
        <p:spPr>
          <a:xfrm>
            <a:off x="267970" y="223568"/>
            <a:ext cx="11656060" cy="1013460"/>
          </a:xfrm>
          <a:prstGeom prst="rect">
            <a:avLst/>
          </a:prstGeom>
        </p:spPr>
      </p:pic>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898A4E7-D69E-C448-1FC2-8DE2EBECF36A}"/>
              </a:ext>
            </a:extLst>
          </p:cNvPr>
          <p:cNvSpPr txBox="1"/>
          <p:nvPr/>
        </p:nvSpPr>
        <p:spPr>
          <a:xfrm>
            <a:off x="7412306" y="4541552"/>
            <a:ext cx="4668918" cy="1862048"/>
          </a:xfrm>
          <a:prstGeom prst="rect">
            <a:avLst/>
          </a:prstGeom>
          <a:noFill/>
        </p:spPr>
        <p:txBody>
          <a:bodyPr wrap="square">
            <a:spAutoFit/>
          </a:bodyPr>
          <a:lstStyle/>
          <a:p>
            <a:pPr lvl="1" indent="0" eaLnBrk="1" hangingPunct="1">
              <a:spcBef>
                <a:spcPts val="550"/>
              </a:spcBef>
              <a:buClr>
                <a:srgbClr val="4F81BD"/>
              </a:buClr>
              <a:buSzPct val="70000"/>
            </a:pPr>
            <a:r>
              <a:rPr lang="en-US" sz="2000" i="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192425226 – L. Sanjay Kumar</a:t>
            </a:r>
          </a:p>
          <a:p>
            <a:pPr lvl="1">
              <a:spcBef>
                <a:spcPts val="550"/>
              </a:spcBef>
              <a:buClr>
                <a:srgbClr val="4F81BD"/>
              </a:buClr>
              <a:buSzPct val="70000"/>
            </a:pP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192425326 – R. Rohith Manikanta</a:t>
            </a:r>
          </a:p>
          <a:p>
            <a:pPr lvl="1">
              <a:spcBef>
                <a:spcPts val="550"/>
              </a:spcBef>
              <a:buClr>
                <a:srgbClr val="4F81BD"/>
              </a:buClr>
              <a:buSzPct val="70000"/>
            </a:pP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192425160 – K. Giridhar</a:t>
            </a:r>
          </a:p>
          <a:p>
            <a:pPr lvl="1">
              <a:spcBef>
                <a:spcPts val="550"/>
              </a:spcBef>
              <a:buClr>
                <a:srgbClr val="4F81BD"/>
              </a:buClr>
              <a:buSzPct val="70000"/>
            </a:pP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192525136 – M. </a:t>
            </a:r>
            <a:r>
              <a:rPr lang="en-US" sz="2000" b="1" dirty="0" err="1">
                <a:solidFill>
                  <a:schemeClr val="accent1">
                    <a:lumMod val="50000"/>
                  </a:schemeClr>
                </a:solidFill>
                <a:latin typeface="Cambria" panose="02040503050406030204" pitchFamily="18" charset="0"/>
                <a:ea typeface="Cambria" panose="02040503050406030204" pitchFamily="18" charset="0"/>
                <a:cs typeface="Times New Roman" pitchFamily="18" charset="0"/>
              </a:rPr>
              <a:t>Tilok</a:t>
            </a:r>
            <a:r>
              <a:rPr lang="en-US" sz="2000" b="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 Sai Tej</a:t>
            </a:r>
          </a:p>
        </p:txBody>
      </p:sp>
      <p:sp>
        <p:nvSpPr>
          <p:cNvPr id="13" name="TextBox 12">
            <a:extLst>
              <a:ext uri="{FF2B5EF4-FFF2-40B4-BE49-F238E27FC236}">
                <a16:creationId xmlns:a16="http://schemas.microsoft.com/office/drawing/2014/main" id="{82CDEA37-C6AC-1EE2-8FFE-209ACD903C9A}"/>
              </a:ext>
            </a:extLst>
          </p:cNvPr>
          <p:cNvSpPr txBox="1"/>
          <p:nvPr/>
        </p:nvSpPr>
        <p:spPr>
          <a:xfrm>
            <a:off x="217714" y="1239231"/>
            <a:ext cx="11756572" cy="1569660"/>
          </a:xfrm>
          <a:prstGeom prst="rect">
            <a:avLst/>
          </a:prstGeom>
          <a:noFill/>
        </p:spPr>
        <p:txBody>
          <a:bodyPr wrap="square">
            <a:spAutoFit/>
          </a:bodyPr>
          <a:lstStyle/>
          <a:p>
            <a:pPr marL="36195" marR="0" algn="ctr">
              <a:spcAft>
                <a:spcPts val="600"/>
              </a:spcAft>
              <a:buNone/>
            </a:pPr>
            <a:r>
              <a:rPr lang="en-US" sz="3200" dirty="0">
                <a:solidFill>
                  <a:schemeClr val="accent6">
                    <a:lumMod val="50000"/>
                  </a:schemeClr>
                </a:solidFill>
                <a:effectLst/>
                <a:latin typeface="Cambria" panose="02040503050406030204" pitchFamily="18" charset="0"/>
                <a:ea typeface="Cambria" panose="02040503050406030204" pitchFamily="18" charset="0"/>
              </a:rPr>
              <a:t>Project Guardian: Intelligent Disaster Response and Emergency Resource Coordination using Reinforcement Learning and Hybrid Agent-Based Simulation</a:t>
            </a:r>
            <a:endParaRPr lang="en-IN" sz="3200" dirty="0">
              <a:solidFill>
                <a:schemeClr val="accent6">
                  <a:lumMod val="50000"/>
                </a:schemeClr>
              </a:solidFill>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14A7604F-5AF1-3907-AA38-EB1F8C305E9F}"/>
              </a:ext>
            </a:extLst>
          </p:cNvPr>
          <p:cNvSpPr txBox="1"/>
          <p:nvPr/>
        </p:nvSpPr>
        <p:spPr>
          <a:xfrm>
            <a:off x="81280" y="4695440"/>
            <a:ext cx="6410960" cy="1938992"/>
          </a:xfrm>
          <a:prstGeom prst="rect">
            <a:avLst/>
          </a:prstGeom>
          <a:noFill/>
        </p:spPr>
        <p:txBody>
          <a:bodyPr wrap="square">
            <a:spAutoFit/>
          </a:bodyPr>
          <a:lstStyle/>
          <a:p>
            <a:pPr lvl="1" indent="0" eaLnBrk="1" hangingPunct="1">
              <a:spcBef>
                <a:spcPts val="550"/>
              </a:spcBef>
              <a:buClr>
                <a:srgbClr val="4F81BD"/>
              </a:buClr>
              <a:buSzPct val="70000"/>
            </a:pPr>
            <a:r>
              <a:rPr lang="en-US" sz="2000" b="1" dirty="0">
                <a:solidFill>
                  <a:schemeClr val="accent2">
                    <a:lumMod val="50000"/>
                  </a:schemeClr>
                </a:solidFill>
                <a:latin typeface="Cambria" panose="02040503050406030204" pitchFamily="18" charset="0"/>
                <a:ea typeface="Cambria" panose="02040503050406030204" pitchFamily="18" charset="0"/>
                <a:cs typeface="Times New Roman" pitchFamily="18" charset="0"/>
              </a:rPr>
              <a:t>Guided by,</a:t>
            </a:r>
          </a:p>
          <a:p>
            <a:pPr lvl="1" indent="0" eaLnBrk="1" hangingPunct="1">
              <a:spcBef>
                <a:spcPts val="550"/>
              </a:spcBef>
              <a:buClr>
                <a:srgbClr val="4F81BD"/>
              </a:buClr>
              <a:buSzPct val="70000"/>
            </a:pPr>
            <a:r>
              <a:rPr lang="en-US" sz="2000" b="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Dr. T. Vincent Gnanaraj</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Associate Professor</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Department of Quantum Intelligence</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SIMATS Engineering</a:t>
            </a:r>
          </a:p>
        </p:txBody>
      </p:sp>
      <p:pic>
        <p:nvPicPr>
          <p:cNvPr id="8" name="Picture 7" descr="Photo team responding to natural disaster impact in high resolution urgent crisis management scene with">
            <a:extLst>
              <a:ext uri="{FF2B5EF4-FFF2-40B4-BE49-F238E27FC236}">
                <a16:creationId xmlns:a16="http://schemas.microsoft.com/office/drawing/2014/main" id="{F77BB16E-42F0-C77B-A61F-FD0735A3C6EB}"/>
              </a:ext>
            </a:extLst>
          </p:cNvPr>
          <p:cNvPicPr>
            <a:picLocks noChangeAspect="1"/>
          </p:cNvPicPr>
          <p:nvPr/>
        </p:nvPicPr>
        <p:blipFill>
          <a:blip r:embed="rId2"/>
          <a:stretch>
            <a:fillRect/>
          </a:stretch>
        </p:blipFill>
        <p:spPr>
          <a:xfrm>
            <a:off x="1120877" y="2744198"/>
            <a:ext cx="9950245" cy="1862048"/>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855729" y="1404299"/>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631705" y="2414605"/>
            <a:ext cx="10771274" cy="2554545"/>
          </a:xfrm>
          <a:prstGeom prst="rect">
            <a:avLst/>
          </a:prstGeom>
          <a:noFill/>
        </p:spPr>
        <p:txBody>
          <a:bodyPr wrap="square">
            <a:spAutoFit/>
          </a:bodyPr>
          <a:lstStyle/>
          <a:p>
            <a:pPr algn="just"/>
            <a:r>
              <a:rPr lang="en-IN" sz="1600" dirty="0"/>
              <a:t>Natural disasters create complex and unpredictable situations that require fast and efficient emergency response. Existing research highlights the use of Agent-Based Simulation (ABS) for modelling disaster scenarios and emergency response operations, while Reinforcement Learning (RL) supports dynamic resource allocation and decision-making. Multi-Agent Reinforcement Learning (MARL) enables multiple intelligent agents to cooperate and make decisions in changing environments. However, existing approaches often focus separately on resource allocation, agent coordination, or disaster simulation. </a:t>
            </a:r>
            <a:r>
              <a:rPr lang="en-IN" sz="1600" b="1" dirty="0"/>
              <a:t>Project Guardian</a:t>
            </a:r>
            <a:r>
              <a:rPr lang="en-IN" sz="1600" dirty="0"/>
              <a:t> integrates Reinforcement Learning and Hybrid Agent-Based Simulation into a unified disaster response framework. The system models rescue teams, affected populations, hospitals, vehicles, and emergency resources as interacting agents. The proposed approach aims to improve dynamic resource coordination, reduce response time, and enhance decision-making, providing an intelligent and adaptive solution for effective disaster management.</a:t>
            </a:r>
          </a:p>
          <a:p>
            <a:pPr algn="just"/>
            <a:endParaRPr lang="en-US" sz="1600" dirty="0">
              <a:solidFill>
                <a:schemeClr val="tx1">
                  <a:lumMod val="85000"/>
                  <a:lumOff val="1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0C1FE-4F4D-E750-3770-E8954930B8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045A5E-697E-09E6-A35D-A29DC20F8B29}"/>
              </a:ext>
            </a:extLst>
          </p:cNvPr>
          <p:cNvSpPr txBox="1"/>
          <p:nvPr/>
        </p:nvSpPr>
        <p:spPr>
          <a:xfrm>
            <a:off x="4659085" y="1227318"/>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A4D801C-CC9D-B442-5E2E-D8FB77806CFE}"/>
              </a:ext>
            </a:extLst>
          </p:cNvPr>
          <p:cNvSpPr txBox="1"/>
          <p:nvPr/>
        </p:nvSpPr>
        <p:spPr>
          <a:xfrm>
            <a:off x="373625" y="2097228"/>
            <a:ext cx="10491020" cy="4031873"/>
          </a:xfrm>
          <a:prstGeom prst="rect">
            <a:avLst/>
          </a:prstGeom>
          <a:noFill/>
        </p:spPr>
        <p:txBody>
          <a:bodyPr wrap="square">
            <a:spAutoFit/>
          </a:bodyPr>
          <a:lstStyle/>
          <a:p>
            <a:pPr marL="285750" indent="-285750">
              <a:buFont typeface="Wingdings" panose="05000000000000000000" pitchFamily="2" charset="2"/>
              <a:buChar char="§"/>
            </a:pPr>
            <a:r>
              <a:rPr lang="en-IN" sz="1600" b="1" dirty="0">
                <a:latin typeface="Cambria" panose="02040503050406030204" pitchFamily="18" charset="0"/>
                <a:ea typeface="Cambria" panose="02040503050406030204" pitchFamily="18" charset="0"/>
              </a:rPr>
              <a:t>Project Guardian:</a:t>
            </a:r>
            <a:r>
              <a:rPr lang="en-IN" sz="1600" dirty="0">
                <a:latin typeface="Cambria" panose="02040503050406030204" pitchFamily="18" charset="0"/>
                <a:ea typeface="Cambria" panose="02040503050406030204" pitchFamily="18" charset="0"/>
              </a:rPr>
              <a:t> An intelligent disaster response and emergency resource coordination system that uses Reinforcement Learning (RL) and Hybrid Agent-Based Simulation (ABS) to improve disaster response and resource management.</a:t>
            </a:r>
          </a:p>
          <a:p>
            <a:pPr marL="285750" indent="-285750">
              <a:buFont typeface="Wingdings" panose="05000000000000000000" pitchFamily="2" charset="2"/>
              <a:buChar char="§"/>
            </a:pPr>
            <a:endParaRPr lang="en-IN" sz="16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 </a:t>
            </a:r>
            <a:r>
              <a:rPr lang="en-IN" sz="1600" b="1" dirty="0">
                <a:latin typeface="Cambria" panose="02040503050406030204" pitchFamily="18" charset="0"/>
                <a:ea typeface="Cambria" panose="02040503050406030204" pitchFamily="18" charset="0"/>
              </a:rPr>
              <a:t>Disaster Management:</a:t>
            </a:r>
            <a:r>
              <a:rPr lang="en-IN" sz="1600" dirty="0">
                <a:latin typeface="Cambria" panose="02040503050406030204" pitchFamily="18" charset="0"/>
                <a:ea typeface="Cambria" panose="02040503050406030204" pitchFamily="18" charset="0"/>
              </a:rPr>
              <a:t> The process of preparing for, responding to, and recovering from disasters such as floods, earthquakes, cyclones, fires, and other emergencies to save lives and minimise damage.</a:t>
            </a:r>
          </a:p>
          <a:p>
            <a:pPr marL="285750" indent="-285750">
              <a:buFont typeface="Wingdings" panose="05000000000000000000" pitchFamily="2" charset="2"/>
              <a:buChar char="§"/>
            </a:pPr>
            <a:endParaRPr lang="en-IN" sz="16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 </a:t>
            </a:r>
            <a:r>
              <a:rPr lang="en-IN" sz="1600" b="1" dirty="0">
                <a:latin typeface="Cambria" panose="02040503050406030204" pitchFamily="18" charset="0"/>
                <a:ea typeface="Cambria" panose="02040503050406030204" pitchFamily="18" charset="0"/>
              </a:rPr>
              <a:t>Multi-Agent Reinforcement Learning (MARL):</a:t>
            </a:r>
            <a:r>
              <a:rPr lang="en-IN" sz="1600" dirty="0">
                <a:latin typeface="Cambria" panose="02040503050406030204" pitchFamily="18" charset="0"/>
                <a:ea typeface="Cambria" panose="02040503050406030204" pitchFamily="18" charset="0"/>
              </a:rPr>
              <a:t> An AI technique where multiple intelligent agents learn and cooperate with each other to make better decisions in a dynamic disaster environment.</a:t>
            </a:r>
          </a:p>
          <a:p>
            <a:pPr marL="285750" indent="-285750">
              <a:buFont typeface="Wingdings" panose="05000000000000000000" pitchFamily="2" charset="2"/>
              <a:buChar char="§"/>
            </a:pPr>
            <a:endParaRPr lang="en-IN" sz="16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 </a:t>
            </a:r>
            <a:r>
              <a:rPr lang="en-IN" sz="1600" b="1" dirty="0">
                <a:latin typeface="Cambria" panose="02040503050406030204" pitchFamily="18" charset="0"/>
                <a:ea typeface="Cambria" panose="02040503050406030204" pitchFamily="18" charset="0"/>
              </a:rPr>
              <a:t>Agent-Based Simulation (ABS</a:t>
            </a:r>
            <a:r>
              <a:rPr lang="en-IN" sz="1600" dirty="0">
                <a:latin typeface="Cambria" panose="02040503050406030204" pitchFamily="18" charset="0"/>
                <a:ea typeface="Cambria" panose="02040503050406030204" pitchFamily="18" charset="0"/>
              </a:rPr>
              <a:t>): A simulation method that models individual agents, such as emergency teams, vehicles, hospitals, and affected people, and studies how they interact during a disaster.</a:t>
            </a:r>
          </a:p>
          <a:p>
            <a:pPr marL="285750" indent="-285750">
              <a:buFont typeface="Wingdings" panose="05000000000000000000" pitchFamily="2" charset="2"/>
              <a:buChar char="§"/>
            </a:pPr>
            <a:endParaRPr lang="en-IN" sz="16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 </a:t>
            </a:r>
            <a:r>
              <a:rPr lang="en-IN" sz="1600" b="1" dirty="0">
                <a:latin typeface="Cambria" panose="02040503050406030204" pitchFamily="18" charset="0"/>
                <a:ea typeface="Cambria" panose="02040503050406030204" pitchFamily="18" charset="0"/>
              </a:rPr>
              <a:t>Full-Time Objective:</a:t>
            </a:r>
            <a:r>
              <a:rPr lang="en-IN" sz="1600" dirty="0">
                <a:latin typeface="Cambria" panose="02040503050406030204" pitchFamily="18" charset="0"/>
                <a:ea typeface="Cambria" panose="02040503050406030204" pitchFamily="18" charset="0"/>
              </a:rPr>
              <a:t> To develop an intelligent and adaptive disaster management system that combines Multi-Agent Reinforcement Learning and Hybrid Agent-Based Simulation to optimise emergency resource allocation, improve coordination, reduce response time, and support effective disaster management.</a:t>
            </a:r>
          </a:p>
        </p:txBody>
      </p:sp>
    </p:spTree>
    <p:extLst>
      <p:ext uri="{BB962C8B-B14F-4D97-AF65-F5344CB8AC3E}">
        <p14:creationId xmlns:p14="http://schemas.microsoft.com/office/powerpoint/2010/main" val="2945343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2D578-8D67-7806-5A5F-1A92D7F3CDC7}"/>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FF69B7D9-4BA3-9560-5ADF-EE63F8489A23}"/>
              </a:ext>
            </a:extLst>
          </p:cNvPr>
          <p:cNvGraphicFramePr>
            <a:graphicFrameLocks noGrp="1"/>
          </p:cNvGraphicFramePr>
          <p:nvPr>
            <p:extLst>
              <p:ext uri="{D42A27DB-BD31-4B8C-83A1-F6EECF244321}">
                <p14:modId xmlns:p14="http://schemas.microsoft.com/office/powerpoint/2010/main" val="2234715360"/>
              </p:ext>
            </p:extLst>
          </p:nvPr>
        </p:nvGraphicFramePr>
        <p:xfrm>
          <a:off x="215728" y="1767152"/>
          <a:ext cx="11760544" cy="4881264"/>
        </p:xfrm>
        <a:graphic>
          <a:graphicData uri="http://schemas.openxmlformats.org/drawingml/2006/table">
            <a:tbl>
              <a:tblPr/>
              <a:tblGrid>
                <a:gridCol w="3825317">
                  <a:extLst>
                    <a:ext uri="{9D8B030D-6E8A-4147-A177-3AD203B41FA5}">
                      <a16:colId xmlns:a16="http://schemas.microsoft.com/office/drawing/2014/main" val="3379567841"/>
                    </a:ext>
                  </a:extLst>
                </a:gridCol>
                <a:gridCol w="3717902">
                  <a:extLst>
                    <a:ext uri="{9D8B030D-6E8A-4147-A177-3AD203B41FA5}">
                      <a16:colId xmlns:a16="http://schemas.microsoft.com/office/drawing/2014/main" val="1990139872"/>
                    </a:ext>
                  </a:extLst>
                </a:gridCol>
                <a:gridCol w="4217325">
                  <a:extLst>
                    <a:ext uri="{9D8B030D-6E8A-4147-A177-3AD203B41FA5}">
                      <a16:colId xmlns:a16="http://schemas.microsoft.com/office/drawing/2014/main" val="189062214"/>
                    </a:ext>
                  </a:extLst>
                </a:gridCol>
              </a:tblGrid>
              <a:tr h="225412">
                <a:tc>
                  <a:txBody>
                    <a:bodyPr/>
                    <a:lstStyle/>
                    <a:p>
                      <a:pPr>
                        <a:buNone/>
                      </a:pPr>
                      <a:r>
                        <a:rPr lang="en-IN" sz="1600" dirty="0">
                          <a:latin typeface="Cambria" panose="02040503050406030204" pitchFamily="18" charset="0"/>
                          <a:ea typeface="Cambria" panose="02040503050406030204" pitchFamily="18" charset="0"/>
                        </a:rPr>
                        <a:t>Author(s), Year, Journal/Proceedings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Title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Key Findings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590722">
                <a:tc>
                  <a:txBody>
                    <a:bodyPr/>
                    <a:lstStyle/>
                    <a:p>
                      <a:pPr>
                        <a:buNone/>
                      </a:pPr>
                      <a:r>
                        <a:rPr lang="en-IN" sz="1600" dirty="0">
                          <a:latin typeface="Cambria" panose="02040503050406030204" pitchFamily="18" charset="0"/>
                          <a:ea typeface="Cambria" panose="02040503050406030204" pitchFamily="18" charset="0"/>
                        </a:rPr>
                        <a:t>LexisNexis, S., 2025, </a:t>
                      </a:r>
                      <a:r>
                        <a:rPr lang="en-IN" sz="1600" i="1" dirty="0">
                          <a:latin typeface="Cambria" panose="02040503050406030204" pitchFamily="18" charset="0"/>
                          <a:ea typeface="Cambria" panose="02040503050406030204" pitchFamily="18" charset="0"/>
                        </a:rPr>
                        <a:t>AAAI Symposium Series</a:t>
                      </a:r>
                      <a:endParaRPr lang="en-IN" sz="1600" dirty="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Evolve-DGN: An Evolving Dynamic Graph Network for Adaptive and Equitable Resource Allocation in Disaster Response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Combined dynamic graph modelling and MARL for adaptive disaster resource allocation.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0">
                <a:tc>
                  <a:txBody>
                    <a:bodyPr/>
                    <a:lstStyle/>
                    <a:p>
                      <a:pPr>
                        <a:buNone/>
                      </a:pPr>
                      <a:r>
                        <a:rPr lang="en-IN" sz="1600" dirty="0">
                          <a:latin typeface="Cambria" panose="02040503050406030204" pitchFamily="18" charset="0"/>
                          <a:ea typeface="Cambria" panose="02040503050406030204" pitchFamily="18" charset="0"/>
                        </a:rPr>
                        <a:t>Guo, H. et al., 2026, </a:t>
                      </a:r>
                      <a:r>
                        <a:rPr lang="en-IN" sz="1600" i="1" dirty="0">
                          <a:latin typeface="Cambria" panose="02040503050406030204" pitchFamily="18" charset="0"/>
                          <a:ea typeface="Cambria" panose="02040503050406030204" pitchFamily="18" charset="0"/>
                        </a:rPr>
                        <a:t>Journal of King Saud University Computer and Information Sciences</a:t>
                      </a:r>
                      <a:endParaRPr lang="en-IN" sz="1600" dirty="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Reinforcement Learning Based Dynamic Allocation Strategy for Relief Supplies by Heterogeneous Unmanned System</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Used RL to dynamically allocate relief supplies under changing disaster conditions.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1002595">
                <a:tc>
                  <a:txBody>
                    <a:bodyPr/>
                    <a:lstStyle/>
                    <a:p>
                      <a:pPr>
                        <a:buNone/>
                      </a:pPr>
                      <a:r>
                        <a:rPr lang="en-IN" sz="1600" dirty="0">
                          <a:latin typeface="Cambria" panose="02040503050406030204" pitchFamily="18" charset="0"/>
                          <a:ea typeface="Cambria" panose="02040503050406030204" pitchFamily="18" charset="0"/>
                        </a:rPr>
                        <a:t>Zhang, H. et al., 2023, </a:t>
                      </a:r>
                      <a:r>
                        <a:rPr lang="en-IN" sz="1600" i="1" dirty="0" err="1">
                          <a:latin typeface="Cambria" panose="02040503050406030204" pitchFamily="18" charset="0"/>
                          <a:ea typeface="Cambria" panose="02040503050406030204" pitchFamily="18" charset="0"/>
                        </a:rPr>
                        <a:t>arXiv</a:t>
                      </a:r>
                      <a:endParaRPr lang="en-IN" sz="1600" dirty="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Proactive Resource Request for Disaster Response: A Deep Learning-Based Optimization Model</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Predicted future resource requirements to support proactive disaster resource management.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830669">
                <a:tc>
                  <a:txBody>
                    <a:bodyPr/>
                    <a:lstStyle/>
                    <a:p>
                      <a:pPr>
                        <a:buNone/>
                      </a:pPr>
                      <a:r>
                        <a:rPr lang="en-IN" sz="1600">
                          <a:latin typeface="Cambria" panose="02040503050406030204" pitchFamily="18" charset="0"/>
                          <a:ea typeface="Cambria" panose="02040503050406030204" pitchFamily="18" charset="0"/>
                        </a:rPr>
                        <a:t>Wang, Y. et al., 2012, </a:t>
                      </a:r>
                      <a:r>
                        <a:rPr lang="en-IN" sz="1600" i="1">
                          <a:latin typeface="Cambria" panose="02040503050406030204" pitchFamily="18" charset="0"/>
                          <a:ea typeface="Cambria" panose="02040503050406030204" pitchFamily="18" charset="0"/>
                        </a:rPr>
                        <a:t>Socio-Economic Planning Sciences</a:t>
                      </a:r>
                      <a:endParaRPr lang="en-IN" sz="160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err="1">
                          <a:latin typeface="Cambria" panose="02040503050406030204" pitchFamily="18" charset="0"/>
                          <a:ea typeface="Cambria" panose="02040503050406030204" pitchFamily="18" charset="0"/>
                        </a:rPr>
                        <a:t>Modeling</a:t>
                      </a:r>
                      <a:r>
                        <a:rPr lang="en-IN" sz="1600" dirty="0">
                          <a:latin typeface="Cambria" panose="02040503050406030204" pitchFamily="18" charset="0"/>
                          <a:ea typeface="Cambria" panose="02040503050406030204" pitchFamily="18" charset="0"/>
                        </a:rPr>
                        <a:t> Emergency Medical Response to a Mass Casualty Incident Using Agent-Based Simulation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Demonstrated the use of ABS for modelling emergency agents, resources, and response strategies.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r h="529679">
                <a:tc>
                  <a:txBody>
                    <a:bodyPr/>
                    <a:lstStyle/>
                    <a:p>
                      <a:pPr>
                        <a:buNone/>
                      </a:pPr>
                      <a:r>
                        <a:rPr lang="en-IN" sz="1600">
                          <a:latin typeface="Cambria" panose="02040503050406030204" pitchFamily="18" charset="0"/>
                          <a:ea typeface="Cambria" panose="02040503050406030204" pitchFamily="18" charset="0"/>
                        </a:rPr>
                        <a:t>Guo, H. et al., 2026, </a:t>
                      </a:r>
                      <a:r>
                        <a:rPr lang="en-IN" sz="1600" i="1">
                          <a:latin typeface="Cambria" panose="02040503050406030204" pitchFamily="18" charset="0"/>
                          <a:ea typeface="Cambria" panose="02040503050406030204" pitchFamily="18" charset="0"/>
                        </a:rPr>
                        <a:t>Journal of King Saud University Computer and Information Sciences</a:t>
                      </a:r>
                      <a:endParaRPr lang="en-IN" sz="160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Reinforcement Learning Based Dynamic Allocation Strategy for Relief Supplies by Heterogeneous Unmanned System</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Demonstrated the potential of RL for adaptive relief resource allocation in disaster environments.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7370945"/>
                  </a:ext>
                </a:extLst>
              </a:tr>
            </a:tbl>
          </a:graphicData>
        </a:graphic>
      </p:graphicFrame>
      <p:sp>
        <p:nvSpPr>
          <p:cNvPr id="12" name="TextBox 11">
            <a:extLst>
              <a:ext uri="{FF2B5EF4-FFF2-40B4-BE49-F238E27FC236}">
                <a16:creationId xmlns:a16="http://schemas.microsoft.com/office/drawing/2014/main" id="{722CD26A-0A10-89BB-89E8-51E8D509F632}"/>
              </a:ext>
            </a:extLst>
          </p:cNvPr>
          <p:cNvSpPr txBox="1"/>
          <p:nvPr/>
        </p:nvSpPr>
        <p:spPr>
          <a:xfrm>
            <a:off x="4480171" y="1182377"/>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2240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3672648979"/>
              </p:ext>
            </p:extLst>
          </p:nvPr>
        </p:nvGraphicFramePr>
        <p:xfrm>
          <a:off x="215728" y="1767152"/>
          <a:ext cx="11760544" cy="4844885"/>
        </p:xfrm>
        <a:graphic>
          <a:graphicData uri="http://schemas.openxmlformats.org/drawingml/2006/table">
            <a:tbl>
              <a:tblPr/>
              <a:tblGrid>
                <a:gridCol w="3825317">
                  <a:extLst>
                    <a:ext uri="{9D8B030D-6E8A-4147-A177-3AD203B41FA5}">
                      <a16:colId xmlns:a16="http://schemas.microsoft.com/office/drawing/2014/main" val="3379567841"/>
                    </a:ext>
                  </a:extLst>
                </a:gridCol>
                <a:gridCol w="3717902">
                  <a:extLst>
                    <a:ext uri="{9D8B030D-6E8A-4147-A177-3AD203B41FA5}">
                      <a16:colId xmlns:a16="http://schemas.microsoft.com/office/drawing/2014/main" val="1990139872"/>
                    </a:ext>
                  </a:extLst>
                </a:gridCol>
                <a:gridCol w="4217325">
                  <a:extLst>
                    <a:ext uri="{9D8B030D-6E8A-4147-A177-3AD203B41FA5}">
                      <a16:colId xmlns:a16="http://schemas.microsoft.com/office/drawing/2014/main" val="189062214"/>
                    </a:ext>
                  </a:extLst>
                </a:gridCol>
              </a:tblGrid>
              <a:tr h="225412">
                <a:tc>
                  <a:txBody>
                    <a:bodyPr/>
                    <a:lstStyle/>
                    <a:p>
                      <a:pPr>
                        <a:buNone/>
                      </a:pPr>
                      <a:r>
                        <a:rPr lang="en-IN" sz="1600" dirty="0">
                          <a:latin typeface="Cambria" panose="02040503050406030204" pitchFamily="18" charset="0"/>
                          <a:ea typeface="Cambria" panose="02040503050406030204" pitchFamily="18" charset="0"/>
                        </a:rPr>
                        <a:t>Author(s), Year, Journal/Proceedings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Title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Key Findings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16765">
                <a:tc>
                  <a:txBody>
                    <a:bodyPr/>
                    <a:lstStyle/>
                    <a:p>
                      <a:pPr>
                        <a:buNone/>
                      </a:pPr>
                      <a:r>
                        <a:rPr lang="en-IN" sz="1600" dirty="0">
                          <a:latin typeface="Cambria" panose="02040503050406030204" pitchFamily="18" charset="0"/>
                          <a:ea typeface="Cambria" panose="02040503050406030204" pitchFamily="18" charset="0"/>
                        </a:rPr>
                        <a:t>Wang, Y., </a:t>
                      </a:r>
                      <a:r>
                        <a:rPr lang="en-IN" sz="1600" dirty="0" err="1">
                          <a:latin typeface="Cambria" panose="02040503050406030204" pitchFamily="18" charset="0"/>
                          <a:ea typeface="Cambria" panose="02040503050406030204" pitchFamily="18" charset="0"/>
                        </a:rPr>
                        <a:t>Luangkesorn</a:t>
                      </a:r>
                      <a:r>
                        <a:rPr lang="en-IN" sz="1600" dirty="0">
                          <a:latin typeface="Cambria" panose="02040503050406030204" pitchFamily="18" charset="0"/>
                          <a:ea typeface="Cambria" panose="02040503050406030204" pitchFamily="18" charset="0"/>
                        </a:rPr>
                        <a:t>, K. L. &amp; Shuman, L., 2012, </a:t>
                      </a:r>
                      <a:r>
                        <a:rPr lang="en-IN" sz="1600" i="1" dirty="0">
                          <a:latin typeface="Cambria" panose="02040503050406030204" pitchFamily="18" charset="0"/>
                          <a:ea typeface="Cambria" panose="02040503050406030204" pitchFamily="18" charset="0"/>
                        </a:rPr>
                        <a:t>Socio-Economic Planning Sciences</a:t>
                      </a:r>
                      <a:endParaRPr lang="en-IN" sz="1600" dirty="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Modeling Emergency Medical Response to a Mass Casualty Incident Using Agent-Based Simulation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Used ABS to simulate emergency medical response and evaluate resource requirements.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0">
                <a:tc>
                  <a:txBody>
                    <a:bodyPr/>
                    <a:lstStyle/>
                    <a:p>
                      <a:pPr>
                        <a:buNone/>
                      </a:pPr>
                      <a:r>
                        <a:rPr lang="en-IN" sz="1600" dirty="0">
                          <a:latin typeface="Cambria" panose="02040503050406030204" pitchFamily="18" charset="0"/>
                          <a:ea typeface="Cambria" panose="02040503050406030204" pitchFamily="18" charset="0"/>
                        </a:rPr>
                        <a:t>Nguyen, L. et al., 2018, </a:t>
                      </a:r>
                      <a:r>
                        <a:rPr lang="en-IN" sz="1600" i="1" dirty="0" err="1">
                          <a:latin typeface="Cambria" panose="02040503050406030204" pitchFamily="18" charset="0"/>
                          <a:ea typeface="Cambria" panose="02040503050406030204" pitchFamily="18" charset="0"/>
                        </a:rPr>
                        <a:t>arXiv</a:t>
                      </a:r>
                      <a:endParaRPr lang="en-IN" sz="1600" dirty="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Coordinating Disaster Emergency Response with Heuristic Reinforcement Learning</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Used reinforcement learning to improve coordination and decision-making during disaster response.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1210056">
                <a:tc>
                  <a:txBody>
                    <a:bodyPr/>
                    <a:lstStyle/>
                    <a:p>
                      <a:pPr>
                        <a:buNone/>
                      </a:pPr>
                      <a:r>
                        <a:rPr lang="en-IN" sz="1600" dirty="0">
                          <a:latin typeface="Cambria" panose="02040503050406030204" pitchFamily="18" charset="0"/>
                          <a:ea typeface="Cambria" panose="02040503050406030204" pitchFamily="18" charset="0"/>
                        </a:rPr>
                        <a:t>Lee, H. R. &amp; Lee, T., 2021, </a:t>
                      </a:r>
                      <a:r>
                        <a:rPr lang="en-IN" sz="1600" i="1" dirty="0">
                          <a:latin typeface="Cambria" panose="02040503050406030204" pitchFamily="18" charset="0"/>
                          <a:ea typeface="Cambria" panose="02040503050406030204" pitchFamily="18" charset="0"/>
                        </a:rPr>
                        <a:t>European Journal of Operational Research</a:t>
                      </a:r>
                      <a:endParaRPr lang="en-IN" sz="1600" dirty="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Multi-Agent Reinforcement Learning Algorithm to Solve a Partially-Observable Multi-Agent Problem in Disaster Response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Applied MARL for coordination and decision-making among multiple agents with limited information.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830669">
                <a:tc>
                  <a:txBody>
                    <a:bodyPr/>
                    <a:lstStyle/>
                    <a:p>
                      <a:pPr>
                        <a:buNone/>
                      </a:pPr>
                      <a:r>
                        <a:rPr lang="en-IN" sz="1600">
                          <a:latin typeface="Cambria" panose="02040503050406030204" pitchFamily="18" charset="0"/>
                          <a:ea typeface="Cambria" panose="02040503050406030204" pitchFamily="18" charset="0"/>
                        </a:rPr>
                        <a:t>Yu, L. et al., 2021, </a:t>
                      </a:r>
                      <a:r>
                        <a:rPr lang="en-IN" sz="1600" i="1">
                          <a:latin typeface="Cambria" panose="02040503050406030204" pitchFamily="18" charset="0"/>
                          <a:ea typeface="Cambria" panose="02040503050406030204" pitchFamily="18" charset="0"/>
                        </a:rPr>
                        <a:t>Expert Systems with Applications</a:t>
                      </a:r>
                      <a:endParaRPr lang="en-IN" sz="160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Reinforcement Learning Approach for Resource Allocation in Humanitarian Logistics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a:latin typeface="Cambria" panose="02040503050406030204" pitchFamily="18" charset="0"/>
                          <a:ea typeface="Cambria" panose="02040503050406030204" pitchFamily="18" charset="0"/>
                        </a:rPr>
                        <a:t>Used reinforcement learning for dynamic allocation of limited disaster relief resources.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r h="529679">
                <a:tc>
                  <a:txBody>
                    <a:bodyPr/>
                    <a:lstStyle/>
                    <a:p>
                      <a:pPr>
                        <a:buNone/>
                      </a:pPr>
                      <a:r>
                        <a:rPr lang="en-IN" sz="1600">
                          <a:latin typeface="Cambria" panose="02040503050406030204" pitchFamily="18" charset="0"/>
                          <a:ea typeface="Cambria" panose="02040503050406030204" pitchFamily="18" charset="0"/>
                        </a:rPr>
                        <a:t>Dubey, R. K. et al., 2019, </a:t>
                      </a:r>
                      <a:r>
                        <a:rPr lang="en-IN" sz="1600" i="1">
                          <a:latin typeface="Cambria" panose="02040503050406030204" pitchFamily="18" charset="0"/>
                          <a:ea typeface="Cambria" panose="02040503050406030204" pitchFamily="18" charset="0"/>
                        </a:rPr>
                        <a:t>arXiv</a:t>
                      </a:r>
                      <a:endParaRPr lang="en-IN" sz="1600">
                        <a:latin typeface="Cambria" panose="02040503050406030204" pitchFamily="18" charset="0"/>
                        <a:ea typeface="Cambria" panose="02040503050406030204" pitchFamily="18"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Cognitive Agent-Based Simulation Model for Improving Disaster Response Procedures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Used agent-based simulation to analyse human behaviour and improve disaster evacuation strategies.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7370945"/>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480171" y="1182377"/>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214E9F1-0E23-0E99-BEA8-BF66FF271068}"/>
              </a:ext>
            </a:extLst>
          </p:cNvPr>
          <p:cNvSpPr txBox="1"/>
          <p:nvPr/>
        </p:nvSpPr>
        <p:spPr>
          <a:xfrm>
            <a:off x="3494315" y="1283109"/>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kern="0" cap="small" dirty="0">
                <a:solidFill>
                  <a:schemeClr val="accent1">
                    <a:lumMod val="50000"/>
                  </a:schemeClr>
                </a:solidFill>
                <a:latin typeface="Cambria" panose="02040503050406030204" pitchFamily="18" charset="0"/>
                <a:ea typeface="Cambria" panose="02040503050406030204" pitchFamily="18" charset="0"/>
              </a:rPr>
              <a:t>Problem </a:t>
            </a:r>
            <a:r>
              <a:rPr lang="en-US" sz="3200" b="1" kern="0" cap="small" dirty="0" err="1">
                <a:solidFill>
                  <a:schemeClr val="accent1">
                    <a:lumMod val="50000"/>
                  </a:schemeClr>
                </a:solidFill>
                <a:latin typeface="Cambria" panose="02040503050406030204" pitchFamily="18" charset="0"/>
                <a:ea typeface="Cambria" panose="02040503050406030204" pitchFamily="18" charset="0"/>
              </a:rPr>
              <a:t>statment</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092BA325-05DD-3F7D-538D-2FF5E63B09FD}"/>
              </a:ext>
            </a:extLst>
          </p:cNvPr>
          <p:cNvSpPr txBox="1"/>
          <p:nvPr/>
        </p:nvSpPr>
        <p:spPr>
          <a:xfrm>
            <a:off x="698091" y="2521059"/>
            <a:ext cx="9950244" cy="1815882"/>
          </a:xfrm>
          <a:prstGeom prst="rect">
            <a:avLst/>
          </a:prstGeom>
          <a:noFill/>
        </p:spPr>
        <p:txBody>
          <a:bodyPr wrap="square">
            <a:spAutoFit/>
          </a:bodyPr>
          <a:lstStyle/>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Disaster response operations face challenges such as limited emergency resources, delayed decision-making, and poor coordination among rescue teams, medical units, and other emergency services during rapidly changing disaster situations</a:t>
            </a:r>
          </a:p>
          <a:p>
            <a:endParaRPr lang="en-IN" sz="16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There is a need for an intelligent system that uses Reinforcement Learning and Hybrid Agent-Based Simulation to dynamically coordinate multiple agents, optimise emergency resource allocation, and improve the efficiency of disaster response. </a:t>
            </a:r>
          </a:p>
        </p:txBody>
      </p:sp>
    </p:spTree>
    <p:extLst>
      <p:ext uri="{BB962C8B-B14F-4D97-AF65-F5344CB8AC3E}">
        <p14:creationId xmlns:p14="http://schemas.microsoft.com/office/powerpoint/2010/main" val="4199753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E5BFD-C97B-FE2C-46B6-824D736EE50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FEB88B0-6B8C-2F22-8A30-F34E67C81731}"/>
              </a:ext>
            </a:extLst>
          </p:cNvPr>
          <p:cNvSpPr txBox="1"/>
          <p:nvPr/>
        </p:nvSpPr>
        <p:spPr>
          <a:xfrm>
            <a:off x="3395993" y="1538747"/>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objectives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481D8771-1455-8FAE-0192-E496B24F00D7}"/>
              </a:ext>
            </a:extLst>
          </p:cNvPr>
          <p:cNvSpPr txBox="1"/>
          <p:nvPr/>
        </p:nvSpPr>
        <p:spPr>
          <a:xfrm>
            <a:off x="698091" y="2521059"/>
            <a:ext cx="9950244" cy="2308324"/>
          </a:xfrm>
          <a:prstGeom prst="rect">
            <a:avLst/>
          </a:prstGeom>
          <a:noFill/>
        </p:spPr>
        <p:txBody>
          <a:bodyPr wrap="square">
            <a:spAutoFit/>
          </a:bodyPr>
          <a:lstStyle/>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To develop an intelligent disaster response system using Reinforcement Learning for effective emergency decision-making. </a:t>
            </a:r>
          </a:p>
          <a:p>
            <a:pPr marL="285750" indent="-285750">
              <a:buFont typeface="Wingdings" panose="05000000000000000000" pitchFamily="2" charset="2"/>
              <a:buChar char="§"/>
            </a:pPr>
            <a:endParaRPr lang="en-IN" sz="16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To simulate multiple agents such as rescue teams, ambulances, hospitals, and affected people using Hybrid Agent-Based Simulation. </a:t>
            </a:r>
          </a:p>
          <a:p>
            <a:pPr marL="285750" indent="-285750">
              <a:buFont typeface="Wingdings" panose="05000000000000000000" pitchFamily="2" charset="2"/>
              <a:buChar char="§"/>
            </a:pPr>
            <a:endParaRPr lang="en-IN" sz="16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
            </a:pPr>
            <a:r>
              <a:rPr lang="en-IN" sz="1600" dirty="0">
                <a:latin typeface="Cambria" panose="02040503050406030204" pitchFamily="18" charset="0"/>
                <a:ea typeface="Cambria" panose="02040503050406030204" pitchFamily="18" charset="0"/>
              </a:rPr>
              <a:t>To optimise emergency resource allocation and coordination to reduce response time and improve disaster management efficiency. </a:t>
            </a:r>
          </a:p>
          <a:p>
            <a:pPr marL="285750" indent="-285750">
              <a:buFont typeface="Wingdings" panose="05000000000000000000" pitchFamily="2" charset="2"/>
              <a:buChar char="§"/>
            </a:pPr>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06113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1E22C8-2CF0-7AE6-09F4-2EFEF4F38ABC}"/>
              </a:ext>
            </a:extLst>
          </p:cNvPr>
          <p:cNvSpPr/>
          <p:nvPr/>
        </p:nvSpPr>
        <p:spPr>
          <a:xfrm>
            <a:off x="3113315" y="2505670"/>
            <a:ext cx="6466114" cy="923330"/>
          </a:xfrm>
          <a:prstGeom prst="rect">
            <a:avLst/>
          </a:prstGeom>
          <a:ln/>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wrap="square" lIns="91440" tIns="45720" rIns="91440" bIns="45720">
            <a:spAutoFit/>
          </a:bodyPr>
          <a:lstStyle/>
          <a:p>
            <a:pPr algn="ctr"/>
            <a:r>
              <a:rPr lang="en-US" sz="5400" b="1" spc="50" dirty="0">
                <a:ln w="0">
                  <a:solidFill>
                    <a:schemeClr val="accent6">
                      <a:lumMod val="50000"/>
                    </a:schemeClr>
                  </a:solidFill>
                </a:ln>
                <a:solidFill>
                  <a:schemeClr val="accent6">
                    <a:lumMod val="40000"/>
                    <a:lumOff val="60000"/>
                  </a:schemeClr>
                </a:solidFill>
                <a:effectLst>
                  <a:innerShdw blurRad="63500" dist="50800" dir="13500000">
                    <a:srgbClr val="000000">
                      <a:alpha val="50000"/>
                    </a:srgbClr>
                  </a:innerShdw>
                  <a:reflection blurRad="6350" stA="55000" endA="300" endPos="45500" dir="5400000" sy="-100000" algn="bl" rotWithShape="0"/>
                </a:effectLst>
              </a:rPr>
              <a:t>The End</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TotalTime>
  <Words>930</Words>
  <Application>Microsoft Office PowerPoint</Application>
  <PresentationFormat>Widescreen</PresentationFormat>
  <Paragraphs>71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gnanaraj</dc:creator>
  <cp:lastModifiedBy>lsk870020@gmail.com</cp:lastModifiedBy>
  <cp:revision>13</cp:revision>
  <dcterms:created xsi:type="dcterms:W3CDTF">2025-08-11T02:48:58Z</dcterms:created>
  <dcterms:modified xsi:type="dcterms:W3CDTF">2026-07-27T15:36:41Z</dcterms:modified>
</cp:coreProperties>
</file>